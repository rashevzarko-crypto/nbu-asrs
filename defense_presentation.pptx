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 български университет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3628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Мултимодално дълбоко обучение за</a:t>
            </a:r>
            <a:endParaRPr lang="en-US" sz="3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класификация на инциденти по ВПП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94484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 Classification of Aviation Safety Reports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LLMs and Classic ML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267048" y="402336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Жарко Рашев  |  Магистърска теза  | 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Изследователски въпрос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Могат ли големите езикови модели (LLM) да конкурират класическото машинно обучение при мултилейбълна класификация на авиационни доклади за безопасност?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Как се сравняват zero-shot, few-shot и fine-tuned LLM подходи?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Каква е ролята на размера на модела (8B vs 675B)?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Кога taxonomy-enriched промптинг помага?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Какъв е компромисът между цена и качество?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0" y="1188720"/>
            <a:ext cx="2011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0" y="1188720"/>
            <a:ext cx="2011680" cy="54864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325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172K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2237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ASRS доклада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418320" y="1188720"/>
            <a:ext cx="2011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418320" y="1188720"/>
            <a:ext cx="201168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1325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5097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аномалии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0" y="2926080"/>
            <a:ext cx="4297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0" y="2926080"/>
            <a:ext cx="429768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06324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223760" y="36118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мулти-лейбъл доклади (2+ категории)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Aviation Safety Reporting System  |  1988–2024  |  Доброволни наративни доклади от пилоти и контрольори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Данни — NASA ASRS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9436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75120" y="1188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282,371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778240" y="1188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сурови записа от 61 CSV файла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675120" y="1965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172,183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уникални доклада (след дедупликация по ACN)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75120" y="27432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39,894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78240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стратифицирана извадка (MultilabelStratified)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75120" y="3520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31,850 / 8,044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778240" y="3520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разделение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675120" y="4297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30.3×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778240" y="4297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 (Deviation-Procedural vs Ground Excursion)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75120" y="5074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778240" y="5074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 аномалии (multi-label)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5760" y="61264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Фигура: Корелационна матрица на съвместно появяване на категории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Четири подхода за сравнение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09448" y="118872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9448" y="1188720"/>
            <a:ext cx="54864" cy="2286000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6" name="Text 4"/>
          <p:cNvSpPr/>
          <p:nvPr/>
        </p:nvSpPr>
        <p:spPr>
          <a:xfrm>
            <a:off x="792328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Zero-Shot LLM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2328" y="169164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Директна класификация без примери.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Моделът разчита на предварително знание.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Qwen3-8B, Mistral Large 3, DeepSeek V3.2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8728" y="118872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8728" y="1188720"/>
            <a:ext cx="54864" cy="228600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8"/>
          <p:cNvSpPr/>
          <p:nvPr/>
        </p:nvSpPr>
        <p:spPr>
          <a:xfrm>
            <a:off x="6461608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Few-Shot LLM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61608" y="169164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примера на категория (39 общо) в промпта.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Подбрани: кратки, еднолейбълни от train set.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Qwen3-8B, Mistral Large 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448" y="384048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9448" y="3840480"/>
            <a:ext cx="54864" cy="228600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4" name="Text 12"/>
          <p:cNvSpPr/>
          <p:nvPr/>
        </p:nvSpPr>
        <p:spPr>
          <a:xfrm>
            <a:off x="792328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Fine-Tuned LLM (QLoRA)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2328" y="434340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NF4 квантизация, LoRA r=16.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31,850 примера, 2 епохи, A100 GPU.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8728" y="384048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3840480"/>
            <a:ext cx="54864" cy="228600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8" name="Text 16"/>
          <p:cNvSpPr/>
          <p:nvPr/>
        </p:nvSpPr>
        <p:spPr>
          <a:xfrm>
            <a:off x="6461608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Classic ML (TF-IDF + XGBoost)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61608" y="434340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TF-IDF признака, 13 бинарни класификатора.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дървета, depth 6, scale_pos_weight.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GPU — бърз, евтин, стабилен.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Всички модели оценени на един и същ замразен тест сет (8,044 доклада)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Използвани модели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35128" y="1371600"/>
            <a:ext cx="256032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5" name="Text 3"/>
          <p:cNvSpPr/>
          <p:nvPr/>
        </p:nvSpPr>
        <p:spPr>
          <a:xfrm>
            <a:off x="335128" y="13716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95448" y="1371600"/>
            <a:ext cx="219456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7" name="Text 5"/>
          <p:cNvSpPr/>
          <p:nvPr/>
        </p:nvSpPr>
        <p:spPr>
          <a:xfrm>
            <a:off x="2895448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90008" y="1371600"/>
            <a:ext cx="182880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9" name="Text 7"/>
          <p:cNvSpPr/>
          <p:nvPr/>
        </p:nvSpPr>
        <p:spPr>
          <a:xfrm>
            <a:off x="5090008" y="1371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18808" y="1371600"/>
            <a:ext cx="256032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6918808" y="13716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79128" y="1371600"/>
            <a:ext cx="237744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9479128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5128" y="19659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6568" y="19659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Qwen3-8B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95448" y="196596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86888" y="196596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Transformer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90008" y="196596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81448" y="19659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18808" y="19659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10248" y="19659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FS / FT / Thinking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479128" y="1965960"/>
            <a:ext cx="2377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70568" y="19659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L4 / A100 (vLLM)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5128" y="256032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6568" y="2560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Mistral Large 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95448" y="2560320"/>
            <a:ext cx="219456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86888" y="25603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Transformer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90008" y="2560320"/>
            <a:ext cx="182880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448" y="2560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675B (41B active)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18808" y="256032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10248" y="2560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FS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79128" y="2560320"/>
            <a:ext cx="237744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70568" y="256032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Batch API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5128" y="31546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6568" y="315468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 V3.2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95448" y="315468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86888" y="31546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Transformer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90008" y="315468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81448" y="31546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671B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918808" y="31546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10248" y="315468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ZS+Thinking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79128" y="3154680"/>
            <a:ext cx="2377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70568" y="31546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DeepInfra API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35128" y="374904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6568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95448" y="3749040"/>
            <a:ext cx="219456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86888" y="37490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Boosted Trees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090008" y="3749040"/>
            <a:ext cx="182880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81448" y="37490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918808" y="374904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10248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479128" y="3749040"/>
            <a:ext cx="237744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570568" y="374904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Локално / Modal CPU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= Zero-Shot  |  FS = Few-Shot  |  FT = Fine-Tuned (QLoRA)  |  MoE = Mixture of Experts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 цена на експериментите: ~$53 (Modal GPU: ~$38 + DeepInfra API: ~$15 + Mistral: $0)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Казус: Как бъг маскира представянето на модела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Large 3 (675B) първоначално показа Macro-F1 = 0.312 при zero-shot.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Проблемът: парсерът за нормализация отхвърляше 43% от отговорите.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411480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377440"/>
            <a:ext cx="411480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514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ПРЕДИ (бъг)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9260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62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3657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40233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parse failures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_normalize() не разпознава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"Category: Subcategory" формат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77840" y="301752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6675120" y="2377440"/>
            <a:ext cx="4114800" cy="2560320"/>
          </a:xfrm>
          <a:prstGeom prst="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0" y="2377440"/>
            <a:ext cx="411480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514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СЛЕД (поправка)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29260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0.658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675120" y="3657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40233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parse failures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colon-prefix stripping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 exact match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71600" y="5303520"/>
            <a:ext cx="9448495" cy="731520"/>
          </a:xfrm>
          <a:prstGeom prst="rect">
            <a:avLst>
              <a:gd name="adj" fmla="val 10000"/>
            </a:avLst>
          </a:prstGeom>
          <a:solidFill>
            <a:srgbClr val="FFF3CD"/>
          </a:solidFill>
          <a:ln/>
        </p:spPr>
      </p:sp>
      <p:sp>
        <p:nvSpPr>
          <p:cNvPr id="19" name="Text 17"/>
          <p:cNvSpPr/>
          <p:nvPr/>
        </p:nvSpPr>
        <p:spPr>
          <a:xfrm>
            <a:off x="1554480" y="5349240"/>
            <a:ext cx="90827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Урок: Оценката на LLM зависи критично от качеството на post-processing pipeline. Бъг в парсера може да маскира реалното представяне.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 на всички модели (13 категории)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669280"/>
            <a:ext cx="11094415" cy="640080"/>
          </a:xfrm>
          <a:prstGeom prst="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5715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 (Macro-F1 0.691) &gt; DeepSeek V3.2 + Thinking (0.681) &gt; Mistral Large 3 (0.658) &gt; Qwen3-8B Fine-Tuned (0.510)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Най-добър модел по подход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08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0888" y="5394960"/>
            <a:ext cx="2560320" cy="45720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7" name="Text 4"/>
          <p:cNvSpPr/>
          <p:nvPr/>
        </p:nvSpPr>
        <p:spPr>
          <a:xfrm>
            <a:off x="7008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Zero-Shot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23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Large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0.658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4440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44088" y="5394960"/>
            <a:ext cx="2560320" cy="4572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1" name="Text 8"/>
          <p:cNvSpPr/>
          <p:nvPr/>
        </p:nvSpPr>
        <p:spPr>
          <a:xfrm>
            <a:off x="34440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F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Few-Shot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355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Large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0.640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872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87288" y="5394960"/>
            <a:ext cx="2560320" cy="4572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61872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787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Qwen3-8B QLoRA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0.510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9304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30488" y="5394960"/>
            <a:ext cx="2560320" cy="4572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9" name="Text 16"/>
          <p:cNvSpPr/>
          <p:nvPr/>
        </p:nvSpPr>
        <p:spPr>
          <a:xfrm>
            <a:off x="89304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ML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0219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XGBoost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0.691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 по категория и модел (хийтмап)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Стойности F1 за 13 категории × 15 модела. По-тъмно = по-висок F1. Classic ML доминира в повечето категории.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срещу представяне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777240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18872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503920" y="1188720"/>
            <a:ext cx="310896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325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595360" y="17830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(най-висок F1)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65176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03920" y="2651760"/>
            <a:ext cx="3108960" cy="54864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27889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$6.73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8595360" y="32461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V3.2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Thinking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03920" y="411480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503920" y="4114800"/>
            <a:ext cx="310896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850392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62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~$19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595360" y="47091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Qwen3-8B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(всички опити)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 е едновременно най-евтин и най-точен за 13-лейбъл задачата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Мащаб срещу техника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685800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28016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589520" y="1280160"/>
            <a:ext cx="393192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141732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+0.058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680960" y="187452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ефект при 671B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 V3.2 parent)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74320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2743200"/>
            <a:ext cx="393192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88036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+0.007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7680960" y="333756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ефект при 8B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(Qwen3-8B FS taxonomy)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420624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589520" y="4206240"/>
            <a:ext cx="393192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434340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62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−0.003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7680960" y="4800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при 48 лейбъла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 subcategory)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mode работи при 671B за прости задачи, но вреди при сложни (48 лейбъла, 21.6% parse failures)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Ключови находки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686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ML доминира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XGBoost (Macro-F1 0.691) превъзхожда всички LLM подходи за 13-лейбъл класификация. Без GPU, &lt;1 минута inference.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03120"/>
            <a:ext cx="54864" cy="868680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Размерът на модела е решаващ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675B MoE (Mistral Large 3: 0.658) значително надминава 8B (Qwen3: 0.510). Fine-tuning на 8B не компенсира разликата.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108960"/>
            <a:ext cx="54864" cy="86868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F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промптинг помага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42900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Подкатегории + разграничителни подсказки подобряват Qwen3-8B с +0.073 Macro-F1. Особено полезно за малки модели.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14800"/>
            <a:ext cx="54864" cy="86868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60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 mode — нюансиран ефект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671B: +0.058 F1 за 13 лейбъла, но −0.003 за 48 лейбъла (21.6% parse failures). При 8B: пренебрежим ефект (+0.007).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5120640"/>
            <a:ext cx="54864" cy="86868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166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Post-processing е критичен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44068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Бъг в парсера маскира 43% от отговорите на Mistral Large 3 (0.312 → 0.658). Оценката на LLM изисква robust pipeline.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Заключение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267048" y="146304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628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мултилейбълна класификация на авиационни доклади,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класическото ML (TF-IDF + XGBoost) остава най-ефективният подход —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най-висок F1, нулева цена за inference, и най-бърз.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Бъдещи насоки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86000" y="402336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Encoder-based модели (BERT, DeBERTa) за класификация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443484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RAG подход с вградени ASRS таксономии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484632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Мултимодално обучение (текст + структурирани полета)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525780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Поточна класификация за реално време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67048" y="566928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585216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Благодаря за вниманието!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Жарко Рашев  |  НБУ  |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Multi-Label Classification of Aviation Safety Reports</dc:title>
  <dc:subject>NBU Master's Thesis Defense</dc:subject>
  <dc:creator>Zharko Rashev</dc:creator>
  <cp:lastModifiedBy>Zharko Rashev</cp:lastModifiedBy>
  <cp:revision>1</cp:revision>
  <dcterms:created xsi:type="dcterms:W3CDTF">2026-02-18T09:55:06Z</dcterms:created>
  <dcterms:modified xsi:type="dcterms:W3CDTF">2026-02-18T09:55:06Z</dcterms:modified>
</cp:coreProperties>
</file>