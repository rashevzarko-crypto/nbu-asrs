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FA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Нов български университет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36289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Мултимодално дълбоко обучение за</a:t>
            </a:r>
            <a:endParaRPr lang="en-US" sz="32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класификация на инциденти по ВПП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371600" y="2926080"/>
            <a:ext cx="944849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FA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Multi-Label Classification of Aviation Safety Reports</a:t>
            </a:r>
            <a:endParaRPr lang="en-US" sz="1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5FA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LLMs and Classic ML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267048" y="4023360"/>
            <a:ext cx="3657600" cy="27432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6" name="Text 4"/>
          <p:cNvSpPr/>
          <p:nvPr/>
        </p:nvSpPr>
        <p:spPr>
          <a:xfrm>
            <a:off x="0" y="43891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Жарко Рашев  |  Магистърска теза  | 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Изследователски въпрос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56692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000" i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Могат ли големите езикови модели (LLM) да конкурират класическото машинно обучение при мултилейбълна класификация на авиационни доклади за безопасност?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Как се сравняват zero-shot, few-shot и fine-tuned LLM подходи?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Каква е ролята на размера на модела (8B vs 675B)?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4023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Кога taxonomy-enriched промптинг помага?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4526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Какъв е компромисът между цена и качество?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132320" y="1188720"/>
            <a:ext cx="20116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0" y="1188720"/>
            <a:ext cx="2011680" cy="54864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11" name="Text 9"/>
          <p:cNvSpPr/>
          <p:nvPr/>
        </p:nvSpPr>
        <p:spPr>
          <a:xfrm>
            <a:off x="7132320" y="13258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172K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722376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ASRS доклада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418320" y="1188720"/>
            <a:ext cx="20116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9418320" y="1188720"/>
            <a:ext cx="201168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5" name="Text 13"/>
          <p:cNvSpPr/>
          <p:nvPr/>
        </p:nvSpPr>
        <p:spPr>
          <a:xfrm>
            <a:off x="9418320" y="1325880"/>
            <a:ext cx="2011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950976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аномалии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132320" y="2926080"/>
            <a:ext cx="4297680" cy="1371600"/>
          </a:xfrm>
          <a:prstGeom prst="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0" y="2926080"/>
            <a:ext cx="429768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0" y="3063240"/>
            <a:ext cx="42976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7F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78%</a:t>
            </a:r>
            <a:endParaRPr lang="en-US" sz="3600" dirty="0"/>
          </a:p>
        </p:txBody>
      </p:sp>
      <p:sp>
        <p:nvSpPr>
          <p:cNvPr id="20" name="Text 18"/>
          <p:cNvSpPr/>
          <p:nvPr/>
        </p:nvSpPr>
        <p:spPr>
          <a:xfrm>
            <a:off x="7223760" y="361188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мулти-лейбъл доклади (2+ категории)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48640" y="57607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NASA Aviation Safety Reporting System  |  1988–2024  |  Доброволни наративни доклади от пилоти и контрольори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Данни — NASA ASRS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5943600" cy="4937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675120" y="11887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282,371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778240" y="11887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сурови записа от 61 CSV файла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675120" y="19659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172,183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778240" y="1965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уникални доклада (след дедупликация по ACN)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675120" y="27432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39,894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78240" y="274320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стратифицирана извадка (MultilabelStratified)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675120" y="35204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31,850 / 8,044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778240" y="352044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test разделение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675120" y="4297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30.3×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778240" y="429768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дисбаланс (Deviation-Procedural vs Ground Excursion)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675120" y="50749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778240" y="50749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категории аномалии (multi-label)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65760" y="6126480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Фигура: Корелационна матрица на съвместно появяване на категории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Четири подхода за сравнение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09448" y="1188720"/>
            <a:ext cx="530352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09448" y="1188720"/>
            <a:ext cx="54864" cy="2286000"/>
          </a:xfrm>
          <a:prstGeom prst="rect">
            <a:avLst/>
          </a:prstGeom>
          <a:solidFill>
            <a:srgbClr val="1F77B4"/>
          </a:solidFill>
          <a:ln/>
        </p:spPr>
      </p:sp>
      <p:sp>
        <p:nvSpPr>
          <p:cNvPr id="6" name="Text 4"/>
          <p:cNvSpPr/>
          <p:nvPr/>
        </p:nvSpPr>
        <p:spPr>
          <a:xfrm>
            <a:off x="792328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Zero-Shot LLM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92328" y="169164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Директна класификация без примери.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Моделът разчита на предварително знание.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Тестван: Qwen3-8B, Mistral Large 3, DeepSeek V3.2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8728" y="1188720"/>
            <a:ext cx="530352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278728" y="1188720"/>
            <a:ext cx="54864" cy="228600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0" name="Text 8"/>
          <p:cNvSpPr/>
          <p:nvPr/>
        </p:nvSpPr>
        <p:spPr>
          <a:xfrm>
            <a:off x="6461608" y="13258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2. Few-Shot LLM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61608" y="169164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примера на категория (39 общо) в промпта.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Подбрани: кратки, еднолейбълни от train set.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Тестван: Qwen3-8B, Mistral Large 3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448" y="3840480"/>
            <a:ext cx="530352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9448" y="3840480"/>
            <a:ext cx="54864" cy="228600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4" name="Text 12"/>
          <p:cNvSpPr/>
          <p:nvPr/>
        </p:nvSpPr>
        <p:spPr>
          <a:xfrm>
            <a:off x="792328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 Fine-Tuned LLM (QLoRA)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92328" y="434340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4-bit NF4 квантизация, LoRA r=16.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31,850 примера, 2 епохи, A100 GPU.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Тестван: Qwen3-8B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8728" y="3840480"/>
            <a:ext cx="5303520" cy="2286000"/>
          </a:xfrm>
          <a:prstGeom prst="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78728" y="3840480"/>
            <a:ext cx="54864" cy="228600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8" name="Text 16"/>
          <p:cNvSpPr/>
          <p:nvPr/>
        </p:nvSpPr>
        <p:spPr>
          <a:xfrm>
            <a:off x="6461608" y="39776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 Classic ML (TF-IDF + XGBoost)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61608" y="434340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TF-IDF признака, 13 бинарни класификатора.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дървета, depth 6, scale_pos_weight.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GPU — бърз, евтин, стабилен.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Всички модели оценени на един и същ замразен тест сет (8,044 доклада)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Използвани модели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35128" y="1371600"/>
            <a:ext cx="256032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5" name="Text 3"/>
          <p:cNvSpPr/>
          <p:nvPr/>
        </p:nvSpPr>
        <p:spPr>
          <a:xfrm>
            <a:off x="335128" y="13716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895448" y="1371600"/>
            <a:ext cx="219456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7" name="Text 5"/>
          <p:cNvSpPr/>
          <p:nvPr/>
        </p:nvSpPr>
        <p:spPr>
          <a:xfrm>
            <a:off x="2895448" y="1371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90008" y="1371600"/>
            <a:ext cx="182880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9" name="Text 7"/>
          <p:cNvSpPr/>
          <p:nvPr/>
        </p:nvSpPr>
        <p:spPr>
          <a:xfrm>
            <a:off x="5090008" y="1371600"/>
            <a:ext cx="1828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Параметри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918808" y="1371600"/>
            <a:ext cx="256032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1" name="Text 9"/>
          <p:cNvSpPr/>
          <p:nvPr/>
        </p:nvSpPr>
        <p:spPr>
          <a:xfrm>
            <a:off x="6918808" y="1371600"/>
            <a:ext cx="2560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Подходи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479128" y="1371600"/>
            <a:ext cx="2377440" cy="5943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13" name="Text 11"/>
          <p:cNvSpPr/>
          <p:nvPr/>
        </p:nvSpPr>
        <p:spPr>
          <a:xfrm>
            <a:off x="9479128" y="137160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Инфраструктура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35128" y="196596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6568" y="19659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Qwen3-8B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895448" y="196596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86888" y="196596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Transformer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90008" y="1965960"/>
            <a:ext cx="1828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81448" y="196596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8B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18808" y="196596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10248" y="196596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/ FS / FT / Thinking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479128" y="1965960"/>
            <a:ext cx="23774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70568" y="196596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 L4 / A100 (vLLM)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35128" y="2560320"/>
            <a:ext cx="256032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6568" y="25603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Mistral Large 3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95448" y="2560320"/>
            <a:ext cx="219456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86888" y="256032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Transformer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090008" y="2560320"/>
            <a:ext cx="182880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81448" y="256032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675B (41B active)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918808" y="2560320"/>
            <a:ext cx="256032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010248" y="256032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/ FS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479128" y="2560320"/>
            <a:ext cx="237744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570568" y="256032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Batch API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35128" y="315468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6568" y="315468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DeepSeek V3.2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895448" y="3154680"/>
            <a:ext cx="219456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986888" y="315468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Transformer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90008" y="3154680"/>
            <a:ext cx="1828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181448" y="31546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671B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6918808" y="3154680"/>
            <a:ext cx="256032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010248" y="315468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/ ZS+Thinking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9479128" y="3154680"/>
            <a:ext cx="237744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570568" y="31546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DeepInfra API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35128" y="3749040"/>
            <a:ext cx="256032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26568" y="3749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895448" y="3749040"/>
            <a:ext cx="219456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986888" y="3749040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Boosted Trees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090008" y="3749040"/>
            <a:ext cx="182880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181448" y="374904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918808" y="3749040"/>
            <a:ext cx="256032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10248" y="3749040"/>
            <a:ext cx="23774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baseline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9479128" y="3749040"/>
            <a:ext cx="2377440" cy="594360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570568" y="374904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Локално / Modal CPU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0" y="50292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ZS = Zero-Shot  |  FS = Few-Shot  |  FT = Fine-Tuned (QLoRA)  |  MoE = Mixture of Experts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0" y="548640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 цена на експериментите: ~$53 (Modal GPU: ~$38 + DeepInfra API: ~$15 + Mistral: $0)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Сравнение на всички модели (13 категории)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05840"/>
            <a:ext cx="11094415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5669280"/>
            <a:ext cx="11094415" cy="640080"/>
          </a:xfrm>
          <a:prstGeom prst="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5715000"/>
            <a:ext cx="1072865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ML (Macro-F1 0.691) &gt; DeepSeek V3.2 + Thinking (0.681) &gt; Mistral Large 3 (0.658) &gt; Qwen3-8B Fine-Tuned (0.510)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Най-добър модел по подход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05840"/>
            <a:ext cx="11094415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00888" y="5394960"/>
            <a:ext cx="256032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00888" y="5394960"/>
            <a:ext cx="2560320" cy="45720"/>
          </a:xfrm>
          <a:prstGeom prst="rect">
            <a:avLst/>
          </a:prstGeom>
          <a:solidFill>
            <a:srgbClr val="1F77B4"/>
          </a:solidFill>
          <a:ln/>
        </p:spPr>
      </p:sp>
      <p:sp>
        <p:nvSpPr>
          <p:cNvPr id="7" name="Text 4"/>
          <p:cNvSpPr/>
          <p:nvPr/>
        </p:nvSpPr>
        <p:spPr>
          <a:xfrm>
            <a:off x="700888" y="5468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77B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Zero-Shot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92328" y="574243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Large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0.658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444088" y="5394960"/>
            <a:ext cx="256032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444088" y="5394960"/>
            <a:ext cx="2560320" cy="4572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1" name="Text 8"/>
          <p:cNvSpPr/>
          <p:nvPr/>
        </p:nvSpPr>
        <p:spPr>
          <a:xfrm>
            <a:off x="3444088" y="5468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F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Few-Shot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535528" y="574243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Mistral Large 3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0.640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187288" y="5394960"/>
            <a:ext cx="256032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187288" y="5394960"/>
            <a:ext cx="2560320" cy="4572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5" name="Text 12"/>
          <p:cNvSpPr/>
          <p:nvPr/>
        </p:nvSpPr>
        <p:spPr>
          <a:xfrm>
            <a:off x="6187288" y="5468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627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Fine-Tuned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278728" y="574243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Qwen3-8B QLoRA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0.510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8930488" y="5394960"/>
            <a:ext cx="2560320" cy="914400"/>
          </a:xfrm>
          <a:prstGeom prst="rect">
            <a:avLst>
              <a:gd name="adj" fmla="val 8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930488" y="5394960"/>
            <a:ext cx="2560320" cy="4572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19" name="Text 16"/>
          <p:cNvSpPr/>
          <p:nvPr/>
        </p:nvSpPr>
        <p:spPr>
          <a:xfrm>
            <a:off x="8930488" y="54681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CA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ML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021928" y="5742432"/>
            <a:ext cx="2377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XGBoost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Macro-F1: 0.691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F1 по категория и модел (хийтмап)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005840"/>
            <a:ext cx="11094415" cy="4846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Стойности F1 за 13 категории × 15 модела. По-тъмно = по-висок F1. Classic ML доминира в повечето категории.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Цена срещу представяне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05840"/>
            <a:ext cx="7772400" cy="5029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8503920" y="1188720"/>
            <a:ext cx="310896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503920" y="1188720"/>
            <a:ext cx="310896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7" name="Text 4"/>
          <p:cNvSpPr/>
          <p:nvPr/>
        </p:nvSpPr>
        <p:spPr>
          <a:xfrm>
            <a:off x="8503920" y="13258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8595360" y="178308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ML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(най-висок F1)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03920" y="2651760"/>
            <a:ext cx="310896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503920" y="2651760"/>
            <a:ext cx="3108960" cy="54864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11" name="Text 8"/>
          <p:cNvSpPr/>
          <p:nvPr/>
        </p:nvSpPr>
        <p:spPr>
          <a:xfrm>
            <a:off x="8503920" y="278892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5FA8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$6.73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8595360" y="324612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 V3.2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Thinking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503920" y="4114800"/>
            <a:ext cx="310896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503920" y="4114800"/>
            <a:ext cx="3108960" cy="5486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5" name="Text 12"/>
          <p:cNvSpPr/>
          <p:nvPr/>
        </p:nvSpPr>
        <p:spPr>
          <a:xfrm>
            <a:off x="8503920" y="425196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62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~$19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8595360" y="4709160"/>
            <a:ext cx="292608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Qwen3-8B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(всички опити)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ML е едновременно най-евтин и най-точен за 13-лейбъл задачата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Мащаб срещу техника</a:t>
            </a:r>
            <a:endParaRPr lang="en-US" sz="26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097280"/>
            <a:ext cx="6858000" cy="4754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589520" y="1280160"/>
            <a:ext cx="393192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589520" y="1280160"/>
            <a:ext cx="3931920" cy="54864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7" name="Text 4"/>
          <p:cNvSpPr/>
          <p:nvPr/>
        </p:nvSpPr>
        <p:spPr>
          <a:xfrm>
            <a:off x="7589520" y="141732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CA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+0.058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680960" y="187452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ефект при 671B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 V3.2 parent)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2743200"/>
            <a:ext cx="393192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589520" y="2743200"/>
            <a:ext cx="3931920" cy="5486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1" name="Text 8"/>
          <p:cNvSpPr/>
          <p:nvPr/>
        </p:nvSpPr>
        <p:spPr>
          <a:xfrm>
            <a:off x="7589520" y="288036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7F0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+0.007</a:t>
            </a:r>
            <a:endParaRPr lang="en-US" sz="3600" dirty="0"/>
          </a:p>
        </p:txBody>
      </p:sp>
      <p:sp>
        <p:nvSpPr>
          <p:cNvPr id="12" name="Text 9"/>
          <p:cNvSpPr/>
          <p:nvPr/>
        </p:nvSpPr>
        <p:spPr>
          <a:xfrm>
            <a:off x="7680960" y="333756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ефект при 8B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(Qwen3-8B FS taxonomy)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589520" y="4206240"/>
            <a:ext cx="3931920" cy="1188720"/>
          </a:xfrm>
          <a:prstGeom prst="rect">
            <a:avLst>
              <a:gd name="adj" fmla="val 76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589520" y="4206240"/>
            <a:ext cx="3931920" cy="5486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5" name="Text 12"/>
          <p:cNvSpPr/>
          <p:nvPr/>
        </p:nvSpPr>
        <p:spPr>
          <a:xfrm>
            <a:off x="7589520" y="4343400"/>
            <a:ext cx="3931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627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−0.003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7680960" y="4800600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при 48 лейбъла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(DeepSeek subcategory)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0" y="6217920"/>
            <a:ext cx="121916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Thinking mode работи при 671B за прости задачи, но вреди при сложни (48 лейбъла, 21.6% parse failures)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B4965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Ключови находки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097280"/>
            <a:ext cx="54864" cy="868680"/>
          </a:xfrm>
          <a:prstGeom prst="rect">
            <a:avLst/>
          </a:prstGeom>
          <a:solidFill>
            <a:srgbClr val="2CA0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14300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A0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Classic ML доминира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41732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+ XGBoost (Macro-F1 0.691) превъзхожда всички LLM подходи за 13-лейбъл класификация. Без GPU, &lt;1 минута inference.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48640" y="2103120"/>
            <a:ext cx="54864" cy="868680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148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A8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Размерът на модела е решаващ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242316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675B MoE (Mistral Large 3: 0.658) значително надминава 8B (Qwen3: 0.510). Fine-tuning на 8B не компенсира разликата.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108960"/>
            <a:ext cx="54864" cy="868680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1546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F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Taxonomy промптинг помага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42900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Подкатегории + разграничителни подсказки подобряват Qwen3-8B с +0.073 Macro-F1. Особено полезно за малки модели.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114800"/>
            <a:ext cx="11094415" cy="868680"/>
          </a:xfrm>
          <a:prstGeom prst="rect">
            <a:avLst>
              <a:gd name="adj" fmla="val 84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25400" dir="16200000">
              <a:srgbClr val="000000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48640" y="4114800"/>
            <a:ext cx="54864" cy="868680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1605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627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 mode — нюансиран ефект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4434840"/>
            <a:ext cx="1063721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671B: +0.058 F1 за 13 лейбъла, но −0.003 за 48 лейбъла (21.6% parse failures). При 8B: пренебрежим ефект (+0.007).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820095" y="64465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3152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Заключение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267048" y="1463040"/>
            <a:ext cx="3657600" cy="27432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828800"/>
            <a:ext cx="1036289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мултилейбълна класификация на авиационни доклади,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класическото ML (TF-IDF + XGBoost) остава най-ефективният подход —</a:t>
            </a:r>
            <a:endParaRPr lang="en-US" sz="18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най-висок F1, нулева цена за inference, и най-бърз.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5FA8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Бъдещи насоки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286000" y="4023360"/>
            <a:ext cx="7619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Encoder-based модели (BERT, DeBERTa) за класификация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86000" y="4434840"/>
            <a:ext cx="7619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RAG подход с вградени ASRS таксономии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286000" y="4846320"/>
            <a:ext cx="7619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Мултимодално обучение (текст + структурирани полета)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86000" y="5257800"/>
            <a:ext cx="7619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Поточна класификация за реално време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267048" y="5669280"/>
            <a:ext cx="3657600" cy="27432"/>
          </a:xfrm>
          <a:prstGeom prst="rect">
            <a:avLst/>
          </a:prstGeom>
          <a:solidFill>
            <a:srgbClr val="5FA8D3"/>
          </a:solidFill>
          <a:ln/>
        </p:spPr>
      </p:sp>
      <p:sp>
        <p:nvSpPr>
          <p:cNvPr id="11" name="Text 9"/>
          <p:cNvSpPr/>
          <p:nvPr/>
        </p:nvSpPr>
        <p:spPr>
          <a:xfrm>
            <a:off x="0" y="5852160"/>
            <a:ext cx="1219169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FA8D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Благодаря за вниманието!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0" y="6400800"/>
            <a:ext cx="121916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Жарко Рашев  |  НБУ  | 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Multi-Label Classification of Aviation Safety Reports</dc:title>
  <dc:subject>NBU Master's Thesis Defense</dc:subject>
  <dc:creator>Zharko Rashev</dc:creator>
  <cp:lastModifiedBy>Zharko Rashev</cp:lastModifiedBy>
  <cp:revision>1</cp:revision>
  <dcterms:created xsi:type="dcterms:W3CDTF">2026-02-18T10:12:47Z</dcterms:created>
  <dcterms:modified xsi:type="dcterms:W3CDTF">2026-02-18T10:12:47Z</dcterms:modified>
</cp:coreProperties>
</file>