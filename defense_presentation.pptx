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 български университет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Департамент по информатика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Мултимодално дълбоко обучение за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класификация на инциденти по ВПП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94484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Classification of Aviation Safety Reports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LLMs and Classic ML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67048" y="3931920"/>
            <a:ext cx="3657600" cy="27432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Зарко Рашев  Ф№ F98363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7091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Научен ръководител: доц. д-р Стоян Мишев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51206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Магистърска теза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Изследователски въпрос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Могат ли големите езикови модели (LLM) да конкурират класическото машинно обучение при мултилейбълна класификация на авиационни доклади за безопасност?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Как се сравняват zero-shot, few-shot и fine-tuned LLM подходи?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31012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Каква е ролята на размера на модела (8B vs 675B)?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85616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Кога taxonomy-enriched промптинг помага?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61104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Какъв е компромисът между цена и качество?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1188720"/>
            <a:ext cx="164592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1188720"/>
            <a:ext cx="1645920" cy="54864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FA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0" y="178308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ASRS доклада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95360" y="1188720"/>
            <a:ext cx="137160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95360" y="1188720"/>
            <a:ext cx="1371600" cy="54864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13258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A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686800" y="178308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149840" y="1188720"/>
            <a:ext cx="146304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149840" y="1188720"/>
            <a:ext cx="1463040" cy="54864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49840" y="1325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7F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0241280" y="178308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експеримента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66560" y="2743200"/>
            <a:ext cx="484632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2743200"/>
            <a:ext cx="4846320" cy="54864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8803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62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мулти-лейбъл доклади (2+ категории)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Aviation Safety Reporting System  |  1988–2024  |  Доброволни наративни доклади от пилоти и контрольори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Данни — NASA ASRS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30352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440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Корелационна матрица на съвместно появяване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035040" y="1005840"/>
            <a:ext cx="3474720" cy="3840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1005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509760" y="1005840"/>
            <a:ext cx="914400" cy="3840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Text 6"/>
          <p:cNvSpPr/>
          <p:nvPr/>
        </p:nvSpPr>
        <p:spPr>
          <a:xfrm>
            <a:off x="9509760" y="10058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1389888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08192" y="1389888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Deviation-Procedural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509760" y="138988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2912" y="1389888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65.4%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1773936"/>
            <a:ext cx="347472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08192" y="1773936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Aircraft Equipment Problem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509760" y="1773936"/>
            <a:ext cx="91440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82912" y="1773936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2157984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08192" y="2157984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509760" y="215798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82912" y="2157984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2542032"/>
            <a:ext cx="347472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08192" y="2542032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Inflight Event/Encounter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509760" y="2542032"/>
            <a:ext cx="91440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82912" y="2542032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35040" y="2926080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08192" y="2926080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ATC Issue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509760" y="292608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2926080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35040" y="3310128"/>
            <a:ext cx="347472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08192" y="3310128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509760" y="3310128"/>
            <a:ext cx="91440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582912" y="3310128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035040" y="3694176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08192" y="3694176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Airspace Violation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509760" y="369417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582912" y="3694176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035040" y="4078224"/>
            <a:ext cx="347472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08192" y="4078224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Deviation-Speed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509760" y="4078224"/>
            <a:ext cx="91440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82912" y="4078224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2.9%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35040" y="4462272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08192" y="4462272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 Excursion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509760" y="446227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582912" y="4462272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035040" y="4846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FA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31,850 / 8,044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7772400" y="4846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разделение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035040" y="52852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FA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30.3×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7772400" y="52852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 между категории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035040" y="57241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FA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78%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7772400" y="57241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доклади с 2+ категории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Какво е мулти-лейбъл класификация?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20040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320040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88720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Multi-Class (стандартна)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298094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доклад → 1 категория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Взаимно изключващи се класове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спам / не-спам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20040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FA8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3200400" cy="45720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926080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8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Multi-Label (нашата задача)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218688"/>
            <a:ext cx="298094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доклад → 1–13 категории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от докладите имат 2+ лейбъла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Медиана: 2 категории на доклад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097280"/>
            <a:ext cx="475488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097280"/>
            <a:ext cx="4754880" cy="457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1188720"/>
            <a:ext cx="4535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7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Примерен ASRS доклад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24528" y="1481328"/>
            <a:ext cx="453542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"While descending through FL240, we received a TCAS RA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traffic at our 12 o'clock. We followed the RA guidance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deviated from our assigned altitude. ATC was notified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but there was a delay in acknowledgment..."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Conflict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Deviation - Altitude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ATC Issue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8048" y="4663440"/>
            <a:ext cx="33832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CA0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8048" y="4663440"/>
            <a:ext cx="3383280" cy="4572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18" name="Text 16"/>
          <p:cNvSpPr/>
          <p:nvPr/>
        </p:nvSpPr>
        <p:spPr>
          <a:xfrm>
            <a:off x="947776" y="475488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A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Macro-F1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7776" y="5047488"/>
            <a:ext cx="316382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Средно F1 на всички 13 категории.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Третира всяка категория еднакво.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Чувствителна към редки класове.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04208" y="4663440"/>
            <a:ext cx="33832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FF7F0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4208" y="4663440"/>
            <a:ext cx="338328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22" name="Text 20"/>
          <p:cNvSpPr/>
          <p:nvPr/>
        </p:nvSpPr>
        <p:spPr>
          <a:xfrm>
            <a:off x="4513936" y="475488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Micro-F1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13936" y="5047488"/>
            <a:ext cx="316382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Глобално F1 от всички предикции.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Претегля по брой примери.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По-високо при чести категории.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70368" y="4663440"/>
            <a:ext cx="33832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5FA8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70368" y="4663440"/>
            <a:ext cx="3383280" cy="45720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26" name="Text 24"/>
          <p:cNvSpPr/>
          <p:nvPr/>
        </p:nvSpPr>
        <p:spPr>
          <a:xfrm>
            <a:off x="8080096" y="475488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A8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Macro-AUC (ROC)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80096" y="5047488"/>
            <a:ext cx="316382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на ранжирането.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 от прага на решение.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перфектно, 0.5 = случайно.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Четири подхода за сравнение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448" y="1188720"/>
            <a:ext cx="530352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448" y="1188720"/>
            <a:ext cx="54864" cy="228600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6" name="Text 4"/>
          <p:cNvSpPr/>
          <p:nvPr/>
        </p:nvSpPr>
        <p:spPr>
          <a:xfrm>
            <a:off x="792328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Zero-Shot LLM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2328" y="16916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Директна класификация без примери.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Моделът разчита на предварително знание.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Тестван: Qwen3-8B, Mistral Large 3, DeepSeek V3.2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188720"/>
            <a:ext cx="530352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8728" y="1188720"/>
            <a:ext cx="54864" cy="228600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0" name="Text 8"/>
          <p:cNvSpPr/>
          <p:nvPr/>
        </p:nvSpPr>
        <p:spPr>
          <a:xfrm>
            <a:off x="6461608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Few-Shot LLM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1608" y="16916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примера на категория (39 общо) в промпта.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Подбрани: кратки, еднолейбълни от train set.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Тестван: Qwen3-8B, Mistral Large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448" y="3840480"/>
            <a:ext cx="530352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9448" y="3840480"/>
            <a:ext cx="54864" cy="2286000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14" name="Text 12"/>
          <p:cNvSpPr/>
          <p:nvPr/>
        </p:nvSpPr>
        <p:spPr>
          <a:xfrm>
            <a:off x="792328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Fine-Tuned LLM (QLoRA)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2328" y="43434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квантизация, LoRA r=16.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31,850 примера, 2 епохи, A100 GPU.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Тестван: Qwen3-8B (Ministral 8B — FP8 проблем)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8728" y="3840480"/>
            <a:ext cx="530352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8728" y="3840480"/>
            <a:ext cx="54864" cy="228600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18" name="Text 16"/>
          <p:cNvSpPr/>
          <p:nvPr/>
        </p:nvSpPr>
        <p:spPr>
          <a:xfrm>
            <a:off x="6461608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Classic ML (TF-IDF + XGBoost)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1608" y="43434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TF-IDF признака, 13 бинарни класификатора.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дървета, depth 6, scale_pos_weight.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GPU — бърз, евтин, стабилен.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Всички модели оценени на един и същ замразен тест сет (8,044 доклада)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ML — TF-IDF + XGBoost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1097280"/>
          </a:xfrm>
          <a:prstGeom prst="rect">
            <a:avLst>
              <a:gd name="adj" fmla="val 8333"/>
            </a:avLst>
          </a:prstGeom>
          <a:solidFill>
            <a:srgbClr val="1B496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Наратив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от пилот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(~200 думи)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192024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1371600"/>
            <a:ext cx="1828800" cy="1097280"/>
          </a:xfrm>
          <a:prstGeom prst="rect">
            <a:avLst>
              <a:gd name="adj" fmla="val 8333"/>
            </a:avLst>
          </a:prstGeom>
          <a:solidFill>
            <a:srgbClr val="1F77B4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7180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192024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признака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ngram(1,2)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03520" y="1371600"/>
            <a:ext cx="2103120" cy="1097280"/>
          </a:xfrm>
          <a:prstGeom prst="rect">
            <a:avLst>
              <a:gd name="adj" fmla="val 8333"/>
            </a:avLst>
          </a:prstGeom>
          <a:solidFill>
            <a:srgbClr val="5FA8D3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9496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Разредена матрица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9202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31,850 × 50,000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 TF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52360" y="192024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01000" y="1371600"/>
            <a:ext cx="1828800" cy="1097280"/>
          </a:xfrm>
          <a:prstGeom prst="rect">
            <a:avLst>
              <a:gd name="adj" fmla="val 8333"/>
            </a:avLst>
          </a:prstGeom>
          <a:solidFill>
            <a:srgbClr val="FF7F0E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9244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13× XGBoost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192024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Бинарен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класификатор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875520" y="192024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424160" y="1371600"/>
            <a:ext cx="1828800" cy="1097280"/>
          </a:xfrm>
          <a:prstGeom prst="rect">
            <a:avLst>
              <a:gd name="adj" fmla="val 8333"/>
            </a:avLst>
          </a:prstGeom>
          <a:solidFill>
            <a:srgbClr val="2CA02C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Предикции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0" y="192024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вероятности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(multi-label)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9448" y="2926080"/>
            <a:ext cx="34747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448" y="2926080"/>
            <a:ext cx="3474720" cy="457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25" name="Text 23"/>
          <p:cNvSpPr/>
          <p:nvPr/>
        </p:nvSpPr>
        <p:spPr>
          <a:xfrm>
            <a:off x="719176" y="3017520"/>
            <a:ext cx="3255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7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Vectorizer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9176" y="3310128"/>
            <a:ext cx="325526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– Inverse Document Frequency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Претегля думи по важност в документа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спрямо целия корпус. Улавя domain-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специфични n-грами: "runway incursion",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"altitude deviation", "TCAS RA".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58488" y="2926080"/>
            <a:ext cx="34747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F7F0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58488" y="2926080"/>
            <a:ext cx="347472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29" name="Text 27"/>
          <p:cNvSpPr/>
          <p:nvPr/>
        </p:nvSpPr>
        <p:spPr>
          <a:xfrm>
            <a:off x="4468216" y="3017520"/>
            <a:ext cx="3255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(One-vs-Rest)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68216" y="3310128"/>
            <a:ext cx="325526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независими бинарни класификатора.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има собствен scale_pos_weight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справяне с дисбаланса.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дървета, depth 6, learning rate 0.1.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tree_method=hist за бързина.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07528" y="2926080"/>
            <a:ext cx="34747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2CA0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07528" y="2926080"/>
            <a:ext cx="3474720" cy="4572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33" name="Text 31"/>
          <p:cNvSpPr/>
          <p:nvPr/>
        </p:nvSpPr>
        <p:spPr>
          <a:xfrm>
            <a:off x="8217256" y="3017520"/>
            <a:ext cx="3255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A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Защо работи?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17256" y="3310128"/>
            <a:ext cx="325526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Per-label оптимизация: всяка категория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има собствен модел и праг.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Градирани вероятности (0–1) вместо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да/не. Бърз: &lt;1 минута inference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8K доклада без GPU.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217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Хиперпараметрично търсене (3-fold CV, 8 TF-IDF + 3 модела) потвърждава: baseline е оптимален (Δ Macro-F1 &lt; 0.005)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архитектура — Dense vs MoE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65760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3657600" cy="457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8872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7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Transformer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3438144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Всички параметри активни при inference.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Qwen3-8B: 8B параметра, всички активни.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По-малък, по-бърз, по-евтин.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Лесен за fine-tuning (QLoRA).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65760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F7F0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383280"/>
            <a:ext cx="3657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47472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Mixture of Experts (MoE)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767328"/>
            <a:ext cx="3438144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Маршрутизатор избира подмножество експерти.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3: 675B (41B активни).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V3.2: 671B MoE.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По-мощен, но изисква API достъп.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2194560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972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1097280"/>
            <a:ext cx="1371600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097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097280"/>
            <a:ext cx="1828800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097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149840" y="1097280"/>
            <a:ext cx="1554480" cy="5029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9" name="Text 17"/>
          <p:cNvSpPr/>
          <p:nvPr/>
        </p:nvSpPr>
        <p:spPr>
          <a:xfrm>
            <a:off x="10149840" y="1097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60020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60020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Qwen3-8B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16002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160020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160020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16002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149840" y="160020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22992" y="160020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103120"/>
            <a:ext cx="219456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10312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Large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2103120"/>
            <a:ext cx="137160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22592" y="21031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21040" y="2103120"/>
            <a:ext cx="182880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94192" y="210312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675B (41B act.)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149840" y="2103120"/>
            <a:ext cx="155448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22992" y="210312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606040"/>
            <a:ext cx="2194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60604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V3.2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49440" y="26060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22592" y="260604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21040" y="260604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94192" y="260604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671B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149840" y="260604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22992" y="260604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3108960"/>
            <a:ext cx="219456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10896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Ministral 8B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49440" y="3108960"/>
            <a:ext cx="137160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2592" y="310896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(FP8)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321040" y="3108960"/>
            <a:ext cx="182880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94192" y="310896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149840" y="3108960"/>
            <a:ext cx="155448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22992" y="3108960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54880" y="3383280"/>
            <a:ext cx="685800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1B496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3383280"/>
            <a:ext cx="6858000" cy="4572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54" name="Text 52"/>
          <p:cNvSpPr/>
          <p:nvPr/>
        </p:nvSpPr>
        <p:spPr>
          <a:xfrm>
            <a:off x="4864608" y="3474720"/>
            <a:ext cx="6638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Инфраструктура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864608" y="3767328"/>
            <a:ext cx="6638544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Qwen3-8B: Modal GPU (L4 24GB inference, A100 80GB training)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vLLM за бързо batch inference, enable_thinking=False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3: Mistral Batch API (безплатен план)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8K заявки за ~5 мин, без rate limit проблеми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V3.2: DeepInfra API (prefix caching 62–82%)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50 конкурентни заявки, aiohttp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Общо: 22 експеримента на 4 модела (3 LLM + 1 Classic ML)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QLoRA Fine-Tuning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572000" cy="3200400"/>
          </a:xfrm>
          <a:prstGeom prst="rect">
            <a:avLst>
              <a:gd name="adj" fmla="val 2857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Qwen3-8B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(замразен, 4-bit NF4)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377440"/>
            <a:ext cx="16459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(q_proj)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377440"/>
            <a:ext cx="164592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 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(v_proj)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r=16, α=16, dropout=0.05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 Trainable: 0.2% от параметрите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097280"/>
            <a:ext cx="2194560" cy="3840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0972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Параметър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097280"/>
            <a:ext cx="3108960" cy="38404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10972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Стойност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48132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1481328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Квантизация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1481328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148132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(double quant)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1865376"/>
            <a:ext cx="219456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1865376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rank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63840" y="1865376"/>
            <a:ext cx="310896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36992" y="1865376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r=16, α=16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2249424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2249424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modules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63840" y="2249424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36992" y="2249424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q_proj, v_proj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633472"/>
            <a:ext cx="219456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2633472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63840" y="2633472"/>
            <a:ext cx="310896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36992" y="2633472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31,850 примера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3017520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3017520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Epochs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63840" y="3017520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36992" y="3017520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(3,982 стъпки)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401568"/>
            <a:ext cx="219456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42432" y="3401568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63840" y="3401568"/>
            <a:ext cx="310896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36992" y="340156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(grad accum ×4)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0" y="378561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3785616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63840" y="3785616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36992" y="3785616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 (cosine)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0" y="4169664"/>
            <a:ext cx="219456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42432" y="4169664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863840" y="4169664"/>
            <a:ext cx="310896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36992" y="4169664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paged_adamw_8bit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69280" y="4553712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42432" y="4553712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863840" y="4553712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36992" y="4553712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80GB (Modal)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69280" y="4937760"/>
            <a:ext cx="219456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2432" y="4937760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Времетраене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863840" y="4937760"/>
            <a:ext cx="310896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36992" y="4937760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47min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669280" y="532180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42432" y="5321808"/>
            <a:ext cx="2048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Финална загуба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863840" y="5321808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36992" y="532180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1.691 (66.8% acc)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4846320"/>
            <a:ext cx="11094415" cy="822960"/>
          </a:xfrm>
          <a:prstGeom prst="rect">
            <a:avLst>
              <a:gd name="adj" fmla="val 8889"/>
            </a:avLst>
          </a:prstGeom>
          <a:solidFill>
            <a:srgbClr val="FFF3CD"/>
          </a:solidFill>
          <a:ln/>
        </p:spPr>
      </p:sp>
      <p:sp>
        <p:nvSpPr>
          <p:cNvPr id="61" name="Text 59"/>
          <p:cNvSpPr/>
          <p:nvPr/>
        </p:nvSpPr>
        <p:spPr>
          <a:xfrm>
            <a:off x="731520" y="493776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Ministral 8B: Mistral3ForConditionalGeneration (мултимодален) с FP8 квантизация — не позволява QLoRA (4-bit NF4). Fine-tuning не подобри резултатите (Macro-F1: 0.489 vs 0.491 zero-shot). Заменен с Qwen3-8B.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— Taxonomy-Enriched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0" cy="3200400"/>
          </a:xfrm>
          <a:prstGeom prst="rect">
            <a:avLst>
              <a:gd name="adj" fmla="val 2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61872"/>
            <a:ext cx="475488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Classify this ASRS report.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Aircraft Equipment Problem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Airspace Violation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ATC Issue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Conflict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Deviation - Altitude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Deviation - Procedural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Deviation - Speed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Deviation - Track/Heading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Flight Deck/Cabin Event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Ground Event/Encounter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Ground Excursion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Ground Incursion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Inflight Event/Encounter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JSON list of matching categories.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9144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Taxonomy-Enriched 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188720"/>
            <a:ext cx="5669280" cy="3200400"/>
          </a:xfrm>
          <a:prstGeom prst="rect">
            <a:avLst>
              <a:gd name="adj" fmla="val 2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261872"/>
            <a:ext cx="539496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Classify using NASA ASRS taxonomy.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 with subcategories: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Aircraft Equipment Problem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Less Severe | Critical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Hint: mechanical failures, system malfunctions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Conflict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NMAC | Airborne Conflict | Ground Conflict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Hint: TCAS RA, traffic proximity, near-miss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Deviation - Altitude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Overshoot | Undershoot | Crossing Restriction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Hint: assigned vs actual altitude, CFIT risk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JSON list of matching categories.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83768" y="4846320"/>
            <a:ext cx="329184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83768" y="4846320"/>
            <a:ext cx="3291840" cy="54864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12" name="Text 10"/>
          <p:cNvSpPr/>
          <p:nvPr/>
        </p:nvSpPr>
        <p:spPr>
          <a:xfrm>
            <a:off x="883768" y="49834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A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+0.040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75208" y="54406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подобрение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(Qwen3-8B ZS)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49928" y="4846320"/>
            <a:ext cx="329184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49928" y="4846320"/>
            <a:ext cx="3291840" cy="54864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6" name="Text 14"/>
          <p:cNvSpPr/>
          <p:nvPr/>
        </p:nvSpPr>
        <p:spPr>
          <a:xfrm>
            <a:off x="4449928" y="49834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FA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+0.133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41368" y="54406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Micro-F1 подобрение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(Qwen3-8B ZS)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16088" y="4846320"/>
            <a:ext cx="329184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16088" y="4846320"/>
            <a:ext cx="3291840" cy="54864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20" name="Text 18"/>
          <p:cNvSpPr/>
          <p:nvPr/>
        </p:nvSpPr>
        <p:spPr>
          <a:xfrm>
            <a:off x="8016088" y="49834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7F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+0.073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107528" y="54406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подобрение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(Qwen3-8B FS)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Резултати — Classic ML (TF-IDF + XGBoost)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9436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097280"/>
            <a:ext cx="22860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66560" y="1097280"/>
            <a:ext cx="2286000" cy="54864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234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A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0.691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858000" y="16459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235440" y="1097280"/>
            <a:ext cx="22860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235440" y="1097280"/>
            <a:ext cx="2286000" cy="54864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11" name="Text 8"/>
          <p:cNvSpPr/>
          <p:nvPr/>
        </p:nvSpPr>
        <p:spPr>
          <a:xfrm>
            <a:off x="9235440" y="1234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7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0.746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9326880" y="16459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66560" y="2331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A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Macro-AUC: 0.932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6656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Най-добри категории: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32918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Aircraft Equipment Problem: F1 = 0.816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49440" y="3611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Conflict: F1 = 0.801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49440" y="3931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Deviation-Procedural: F1 = 0.795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4389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Най-слаби категории: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949440" y="4754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Airspace Violation: F1 = 0.568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49440" y="5074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Ground Excursion: F1 = 0.572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49440" y="5394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Deviation-Speed: F1 = 0.577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Редките категории са най-трудни — дисбаланс 30.3× между най-честата и най-рядката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Резултати — Zero-Shot LLM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52448" y="1051560"/>
            <a:ext cx="3200400" cy="4572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5" name="Text 3"/>
          <p:cNvSpPr/>
          <p:nvPr/>
        </p:nvSpPr>
        <p:spPr>
          <a:xfrm>
            <a:off x="1752448" y="1051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52848" y="1051560"/>
            <a:ext cx="1371600" cy="4572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7" name="Text 5"/>
          <p:cNvSpPr/>
          <p:nvPr/>
        </p:nvSpPr>
        <p:spPr>
          <a:xfrm>
            <a:off x="4952848" y="1051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1051560"/>
            <a:ext cx="1371600" cy="4572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Text 7"/>
          <p:cNvSpPr/>
          <p:nvPr/>
        </p:nvSpPr>
        <p:spPr>
          <a:xfrm>
            <a:off x="6324448" y="1051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96048" y="1051560"/>
            <a:ext cx="1371600" cy="4572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/>
          <p:nvPr/>
        </p:nvSpPr>
        <p:spPr>
          <a:xfrm>
            <a:off x="7696048" y="1051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67648" y="1051560"/>
            <a:ext cx="1371600" cy="4572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3" name="Text 11"/>
          <p:cNvSpPr/>
          <p:nvPr/>
        </p:nvSpPr>
        <p:spPr>
          <a:xfrm>
            <a:off x="9067648" y="1051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52448" y="150876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5600" y="15087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V3.2 + thinking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52848" y="15087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6000" y="15087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24448" y="15087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7600" y="15087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96048" y="15087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9200" y="15087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67648" y="15087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0800" y="15087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52448" y="1965960"/>
            <a:ext cx="32004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5600" y="19659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Large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52848" y="19659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6000" y="19659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24448" y="19659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7600" y="19659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96048" y="19659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69200" y="19659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67648" y="19659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0800" y="19659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752448" y="242316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5600" y="24231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V3.2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52848" y="24231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6000" y="24231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24448" y="24231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7600" y="24231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96048" y="24231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69200" y="24231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67648" y="24231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0800" y="24231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752448" y="2880360"/>
            <a:ext cx="32004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5600" y="28803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Qwen3-8B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52848" y="28803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6000" y="28803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24448" y="28803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97600" y="28803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0.499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696048" y="28803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69200" y="28803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067648" y="28803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0800" y="28803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752448" y="333756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5600" y="33375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Ministral 8B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952848" y="33375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6000" y="33375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24448" y="33375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97600" y="33375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696048" y="33375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69200" y="33375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0.543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067648" y="33375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0800" y="33375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0.744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752448" y="3794760"/>
            <a:ext cx="32004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5600" y="37947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Qwen3-8B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952848" y="37947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6000" y="37947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324448" y="37947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97600" y="37947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0.459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696048" y="37947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69200" y="37947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0.473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067648" y="3794760"/>
            <a:ext cx="137160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40800" y="37947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0.727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46608" y="4389120"/>
            <a:ext cx="338328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5FA8D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6608" y="4389120"/>
            <a:ext cx="3383280" cy="45720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76" name="Text 74"/>
          <p:cNvSpPr/>
          <p:nvPr/>
        </p:nvSpPr>
        <p:spPr>
          <a:xfrm>
            <a:off x="856336" y="448056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A8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Мащаб е решаващ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856336" y="4773168"/>
            <a:ext cx="31638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671–675B MoE (0.658–0.681)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значително &gt; 8B Dense (0.459–0.499).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Разлика: +0.16–0.22 Macro-F1.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404208" y="4389120"/>
            <a:ext cx="338328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FF7F0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404208" y="4389120"/>
            <a:ext cx="338328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80" name="Text 78"/>
          <p:cNvSpPr/>
          <p:nvPr/>
        </p:nvSpPr>
        <p:spPr>
          <a:xfrm>
            <a:off x="4513936" y="448056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Taxonomy помага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4513936" y="4773168"/>
            <a:ext cx="31638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Qwen3-8B: +0.040 Macro-F1,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+0.133 Micro-F1 с taxonomy.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По-ясни категорийни граници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малки модели.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061808" y="4389120"/>
            <a:ext cx="338328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D6272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61808" y="4389120"/>
            <a:ext cx="3383280" cy="45720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84" name="Text 82"/>
          <p:cNvSpPr/>
          <p:nvPr/>
        </p:nvSpPr>
        <p:spPr>
          <a:xfrm>
            <a:off x="8171536" y="4480560"/>
            <a:ext cx="3163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Thinking: +0.058 при 671B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8171536" y="4773168"/>
            <a:ext cx="31638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V3.2: 0.681 vs 0.623.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45× по-бавно и 4.8× по-скъпо.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8B: +0.007 (пренебрежимо).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Резултати — Few-Shot и Fine-Tuning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LLM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28600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417320"/>
            <a:ext cx="118872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417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417320"/>
            <a:ext cx="109728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1417320"/>
            <a:ext cx="109728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828800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Large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182880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1828800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0" y="182880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96512" y="18288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182880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18288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240280"/>
            <a:ext cx="228600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240280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Ministral 8B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2240280"/>
            <a:ext cx="118872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7792" y="2240280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2240280"/>
            <a:ext cx="109728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96512" y="224028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2240280"/>
            <a:ext cx="109728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3792" y="224028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65176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2651760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Qwen3-8B + thinking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34640" y="265176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07792" y="2651760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26517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96512" y="265176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26517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93792" y="265176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3063240"/>
            <a:ext cx="228600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063240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Qwen3-8B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34640" y="3063240"/>
            <a:ext cx="118872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07792" y="3063240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023360" y="3063240"/>
            <a:ext cx="109728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96512" y="306324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20640" y="3063240"/>
            <a:ext cx="109728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93792" y="306324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347472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3474720"/>
            <a:ext cx="2139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Qwen3-8B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34640" y="34747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07792" y="3474720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23360" y="347472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6512" y="347472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120640" y="347472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93792" y="347472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8368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Fine-Tuned LLM (QLoRA)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583680" y="1417320"/>
            <a:ext cx="237744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961120" y="1417320"/>
            <a:ext cx="109728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57" name="Text 55"/>
          <p:cNvSpPr/>
          <p:nvPr/>
        </p:nvSpPr>
        <p:spPr>
          <a:xfrm>
            <a:off x="896112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0058400" y="1417320"/>
            <a:ext cx="109728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59" name="Text 57"/>
          <p:cNvSpPr/>
          <p:nvPr/>
        </p:nvSpPr>
        <p:spPr>
          <a:xfrm>
            <a:off x="1005840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1155680" y="1417320"/>
            <a:ext cx="100584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61" name="Text 59"/>
          <p:cNvSpPr/>
          <p:nvPr/>
        </p:nvSpPr>
        <p:spPr>
          <a:xfrm>
            <a:off x="11155680" y="14173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583680" y="1828800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56832" y="182880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Qwen3-8B QLoRA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961120" y="182880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34272" y="18288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0058400" y="182880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131552" y="18288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1155680" y="1828800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228832" y="1828800"/>
            <a:ext cx="859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583680" y="2240280"/>
            <a:ext cx="237744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56832" y="2240280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Ministral 8B LoRA/FP8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961120" y="2240280"/>
            <a:ext cx="109728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34272" y="224028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0058400" y="2240280"/>
            <a:ext cx="109728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131552" y="224028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0.542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1155680" y="2240280"/>
            <a:ext cx="100584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228832" y="2240280"/>
            <a:ext cx="859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0.744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48640" y="3749040"/>
            <a:ext cx="11094415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48640" y="3749040"/>
            <a:ext cx="54864" cy="77724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80" name="Text 78"/>
          <p:cNvSpPr/>
          <p:nvPr/>
        </p:nvSpPr>
        <p:spPr>
          <a:xfrm>
            <a:off x="77724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Few-shot: мащабът доминира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777240" y="4069080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(675B) &gt; всички 8B конфигурации. Few-shot на малък модел е по-слаб от zero-shot на голям.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48640" y="4636008"/>
            <a:ext cx="11094415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48640" y="4636008"/>
            <a:ext cx="54864" cy="777240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84" name="Text 82"/>
          <p:cNvSpPr/>
          <p:nvPr/>
        </p:nvSpPr>
        <p:spPr>
          <a:xfrm>
            <a:off x="777240" y="4681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Fine-tuning: значимо подобрение на Micro-F1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777240" y="4956048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Qwen3-8B QLoRA: +0.159 Micro-F1 vs zero-shot (0.632 vs 0.473). Но Macro-F1 остава по-нисък от zero-shot на 675B модел.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48640" y="5522976"/>
            <a:ext cx="11094415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548640" y="5522976"/>
            <a:ext cx="54864" cy="777240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88" name="Text 86"/>
          <p:cNvSpPr/>
          <p:nvPr/>
        </p:nvSpPr>
        <p:spPr>
          <a:xfrm>
            <a:off x="777240" y="55686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8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 mode: минимален ефект при 8B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777240" y="5843016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taxonomy + thinking: +0.007 Macro-F1 vs no-thinking. Не оправдава 6× по-висока цена (A100 vs L4).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Сравнение на всички модели (13 категории)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005840"/>
            <a:ext cx="11094415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09648" y="5029200"/>
            <a:ext cx="182880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6" name="Text 3"/>
          <p:cNvSpPr/>
          <p:nvPr/>
        </p:nvSpPr>
        <p:spPr>
          <a:xfrm>
            <a:off x="2209648" y="5029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38448" y="5029200"/>
            <a:ext cx="320040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8" name="Text 5"/>
          <p:cNvSpPr/>
          <p:nvPr/>
        </p:nvSpPr>
        <p:spPr>
          <a:xfrm>
            <a:off x="4038448" y="5029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Най-добър модел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38848" y="5029200"/>
            <a:ext cx="137160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0" name="Text 7"/>
          <p:cNvSpPr/>
          <p:nvPr/>
        </p:nvSpPr>
        <p:spPr>
          <a:xfrm>
            <a:off x="7238848" y="5029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10448" y="5029200"/>
            <a:ext cx="1371600" cy="4114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2" name="Text 9"/>
          <p:cNvSpPr/>
          <p:nvPr/>
        </p:nvSpPr>
        <p:spPr>
          <a:xfrm>
            <a:off x="8610448" y="5029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09648" y="54406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2800" y="5440680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ML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038448" y="544068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1600" y="544068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XGBoost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38848" y="544068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2000" y="544068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10448" y="544068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3600" y="544068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209648" y="5852160"/>
            <a:ext cx="182880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82800" y="5852160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038448" y="5852160"/>
            <a:ext cx="320040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1600" y="585216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 + thinking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38848" y="5852160"/>
            <a:ext cx="137160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2000" y="585216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610448" y="5852160"/>
            <a:ext cx="137160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3600" y="585216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209648" y="62636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82800" y="6263640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038448" y="626364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1600" y="626364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238848" y="626364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12000" y="626364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0.640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610448" y="626364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83600" y="626364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0.686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209648" y="6675120"/>
            <a:ext cx="182880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282800" y="6675120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Fine-Tuned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038448" y="6675120"/>
            <a:ext cx="320040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1600" y="6675120"/>
            <a:ext cx="30540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Qwen3-8B QLoRA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238848" y="6675120"/>
            <a:ext cx="137160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312000" y="667512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610448" y="6675120"/>
            <a:ext cx="1371600" cy="41148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683600" y="667512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по категория и модел (хийтмап)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804672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188720"/>
            <a:ext cx="292608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0" y="1188720"/>
            <a:ext cx="2926080" cy="54864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0" y="1325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A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13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778240" y="17373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най-добър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0" y="2560320"/>
            <a:ext cx="292608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0" y="2560320"/>
            <a:ext cx="2926080" cy="54864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FA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13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8778240" y="31089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 + thinking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0" y="3931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Семантичен анализ: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0" y="42519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доминира при категории с ясни текстови маркери (ATC Issue, Ground Incursion).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печелят при категории изискващи разбиране на контекста (Conflict, Deviation-Altitude).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Йерархия на факторите за LLM представяне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59436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188720"/>
            <a:ext cx="48463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66560" y="1188720"/>
            <a:ext cx="54864" cy="1051560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7" name="Shape 4"/>
          <p:cNvSpPr/>
          <p:nvPr/>
        </p:nvSpPr>
        <p:spPr>
          <a:xfrm>
            <a:off x="6949440" y="1325880"/>
            <a:ext cx="502920" cy="502920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89520" y="1261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8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Мащаб на модела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0" y="1554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675B → 0.658–0.681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→ 0.459–0.510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Δ: +0.16–0.22 Macro-F1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2423160"/>
            <a:ext cx="48463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66560" y="2423160"/>
            <a:ext cx="54864" cy="105156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3" name="Shape 10"/>
          <p:cNvSpPr/>
          <p:nvPr/>
        </p:nvSpPr>
        <p:spPr>
          <a:xfrm>
            <a:off x="6949440" y="2560320"/>
            <a:ext cx="502920" cy="502920"/>
          </a:xfrm>
          <a:prstGeom prst="ellipse">
            <a:avLst/>
          </a:prstGeom>
          <a:solidFill>
            <a:srgbClr val="FF7F0E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89520" y="2496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589520" y="2788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Taxonomy: +0.040–0.073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+0.067 (ML3)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Точни описания на границите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66560" y="3657600"/>
            <a:ext cx="48463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66560" y="3657600"/>
            <a:ext cx="54864" cy="1051560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19" name="Shape 16"/>
          <p:cNvSpPr/>
          <p:nvPr/>
        </p:nvSpPr>
        <p:spPr>
          <a:xfrm>
            <a:off x="6949440" y="3794760"/>
            <a:ext cx="502920" cy="502920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0" name="Text 17"/>
          <p:cNvSpPr/>
          <p:nvPr/>
        </p:nvSpPr>
        <p:spPr>
          <a:xfrm>
            <a:off x="69494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589520" y="3730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58952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QLoRA: +0.051 Macro-F1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+0.159 Micro-F1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Най-добър при малък модел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66560" y="4892040"/>
            <a:ext cx="48463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66560" y="4892040"/>
            <a:ext cx="54864" cy="10515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Shape 22"/>
          <p:cNvSpPr/>
          <p:nvPr/>
        </p:nvSpPr>
        <p:spPr>
          <a:xfrm>
            <a:off x="6949440" y="5029200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3"/>
          <p:cNvSpPr/>
          <p:nvPr/>
        </p:nvSpPr>
        <p:spPr>
          <a:xfrm>
            <a:off x="69494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589520" y="4965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 Mode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589520" y="5257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671B: +0.058 Macro-F1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8B: +0.007 (пренебрежимо)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лейбъла: −0.003 (вреди)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Подкатегории — 48-лейбъл класификация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7607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097280"/>
            <a:ext cx="1920240" cy="4572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6" name="Text 3"/>
          <p:cNvSpPr/>
          <p:nvPr/>
        </p:nvSpPr>
        <p:spPr>
          <a:xfrm>
            <a:off x="649224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412480" y="1097280"/>
            <a:ext cx="1280160" cy="4572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0" y="1097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(13)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692640" y="1097280"/>
            <a:ext cx="1280160" cy="4572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0" name="Text 7"/>
          <p:cNvSpPr/>
          <p:nvPr/>
        </p:nvSpPr>
        <p:spPr>
          <a:xfrm>
            <a:off x="9692640" y="1097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 (48)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972800" y="1097280"/>
            <a:ext cx="1097280" cy="4572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92240" y="155448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15544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ML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12480" y="155448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15544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692640" y="155448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65792" y="15544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972800" y="155448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045952" y="1554480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−0.181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92240" y="2011680"/>
            <a:ext cx="192024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65392" y="20116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Large 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412480" y="2011680"/>
            <a:ext cx="128016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85632" y="20116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0.658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692640" y="2011680"/>
            <a:ext cx="128016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65792" y="20116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0.449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972800" y="2011680"/>
            <a:ext cx="109728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045952" y="2011680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−0.209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92240" y="246888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65392" y="24688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V3.2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412480" y="246888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85632" y="2468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0.623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692640" y="2468880"/>
            <a:ext cx="1280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765792" y="2468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0972800" y="2468880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045952" y="2468880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−0.201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92240" y="2926080"/>
            <a:ext cx="192024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65392" y="29260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Qwen3-8B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412480" y="2926080"/>
            <a:ext cx="128016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85632" y="29260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0.499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692640" y="2926080"/>
            <a:ext cx="128016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765792" y="29260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0.235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0972800" y="2926080"/>
            <a:ext cx="1097280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1045952" y="2926080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−0.264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492240" y="3474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Ключови наблюдения: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675120" y="37947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Classic ML запазва AUC: 0.934 vs 0.932 (parent)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675120" y="41605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Най-трудни: Ground Event подкатегории (F1 = 0.000–0.164)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675120" y="45262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Най-добри: Haz Mat Violation (0.824), Smoke/Fire (0.815)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675120" y="48920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LLM деградация е по-голяма (−0.264) от Classic ML (−0.181)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675120" y="52578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Mistral Large 3 бие Classic ML на 11/48 подкатегории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48-лейбъл задачата е значително по-трудна: Macro-F1 пада с 0.18–0.26 за всички модели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Цена срещу представяне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64008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097280"/>
            <a:ext cx="2011680" cy="43891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6" name="Text 3"/>
          <p:cNvSpPr/>
          <p:nvPr/>
        </p:nvSpPr>
        <p:spPr>
          <a:xfrm>
            <a:off x="6949440" y="10972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961120" y="1097280"/>
            <a:ext cx="822960" cy="43891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0" y="109728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784080" y="1097280"/>
            <a:ext cx="1005840" cy="43891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0" name="Text 7"/>
          <p:cNvSpPr/>
          <p:nvPr/>
        </p:nvSpPr>
        <p:spPr>
          <a:xfrm>
            <a:off x="9784080" y="109728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789920" y="1097280"/>
            <a:ext cx="1097280" cy="43891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2" name="Text 9"/>
          <p:cNvSpPr/>
          <p:nvPr/>
        </p:nvSpPr>
        <p:spPr>
          <a:xfrm>
            <a:off x="10789920" y="109728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49440" y="153619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22592" y="1536192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ML (XGBoost)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961120" y="1536192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34272" y="1536192"/>
            <a:ext cx="676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784080" y="1536192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57232" y="1536192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789920" y="1536192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863072" y="1536192"/>
            <a:ext cx="950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49440" y="1975104"/>
            <a:ext cx="201168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22592" y="1975104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Large 3 ZS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961120" y="1975104"/>
            <a:ext cx="82296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34272" y="1975104"/>
            <a:ext cx="676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784080" y="1975104"/>
            <a:ext cx="100584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57232" y="1975104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789920" y="1975104"/>
            <a:ext cx="109728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863072" y="1975104"/>
            <a:ext cx="950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0.658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949440" y="2414016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22592" y="2414016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V3.2 ZS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961120" y="2414016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34272" y="2414016"/>
            <a:ext cx="676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$1.39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784080" y="2414016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57232" y="241401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789920" y="2414016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863072" y="2414016"/>
            <a:ext cx="950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0.623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949440" y="2852928"/>
            <a:ext cx="201168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22592" y="2852928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V3.2 + thinking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961120" y="2852928"/>
            <a:ext cx="82296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34272" y="2852928"/>
            <a:ext cx="676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$6.73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9784080" y="2852928"/>
            <a:ext cx="100584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857232" y="2852928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hr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0789920" y="2852928"/>
            <a:ext cx="1097280" cy="43891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863072" y="2852928"/>
            <a:ext cx="950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0.681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949440" y="3291840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022592" y="3291840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Qwen3-8B (all)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8961120" y="3291840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34272" y="3291840"/>
            <a:ext cx="676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9784080" y="3291840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857232" y="3291840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789920" y="329184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863072" y="3291840"/>
            <a:ext cx="9509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6949440" y="3474720"/>
            <a:ext cx="493776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949440" y="3474720"/>
            <a:ext cx="4937760" cy="54864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55" name="Text 52"/>
          <p:cNvSpPr/>
          <p:nvPr/>
        </p:nvSpPr>
        <p:spPr>
          <a:xfrm>
            <a:off x="6949440" y="36118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FA8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~$53</a:t>
            </a:r>
            <a:endParaRPr lang="en-US" sz="3600" dirty="0"/>
          </a:p>
        </p:txBody>
      </p:sp>
      <p:sp>
        <p:nvSpPr>
          <p:cNvPr id="56" name="Text 53"/>
          <p:cNvSpPr/>
          <p:nvPr/>
        </p:nvSpPr>
        <p:spPr>
          <a:xfrm>
            <a:off x="7040880" y="406908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 цена на 22 експеримента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(Modal: $38 + DeepInfra: $15 + Mistral: $0)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 е едновременно най-евтин, най-бърз, и най-точен за 13-лейбъл задачата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Защо Classic ML печели?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32308" y="1097280"/>
            <a:ext cx="530352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2308" y="1097280"/>
            <a:ext cx="54864" cy="228600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6" name="Text 4"/>
          <p:cNvSpPr/>
          <p:nvPr/>
        </p:nvSpPr>
        <p:spPr>
          <a:xfrm>
            <a:off x="815188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Domain-Specific N-грами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5188" y="16002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улавя авиационни термини: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"runway incursion", "TCAS RA", "altitude deviation".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Тези биграми директно кореспондират 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имената на категориите — силен сигнал.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55868" y="1097280"/>
            <a:ext cx="530352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5868" y="1097280"/>
            <a:ext cx="54864" cy="228600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10" name="Text 8"/>
          <p:cNvSpPr/>
          <p:nvPr/>
        </p:nvSpPr>
        <p:spPr>
          <a:xfrm>
            <a:off x="6438748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Per-Label оптимизация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8748" y="16002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независими класификатора, всеки 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 праг и scale_pos_weight.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правят една обща предикция за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всички категории наведнъж.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308" y="3703320"/>
            <a:ext cx="530352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308" y="3703320"/>
            <a:ext cx="54864" cy="228600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4" name="Text 12"/>
          <p:cNvSpPr/>
          <p:nvPr/>
        </p:nvSpPr>
        <p:spPr>
          <a:xfrm>
            <a:off x="815188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Достатъчно данни за BoW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5188" y="42062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31,850 тренировъчни примера са достатъчни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bag-of-words подход. LLM от 8B нямат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достатъчно капацитет, а 675B не могат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се fine-tune (само API достъп).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5868" y="3703320"/>
            <a:ext cx="530352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5868" y="3703320"/>
            <a:ext cx="54864" cy="2286000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18" name="Text 16"/>
          <p:cNvSpPr/>
          <p:nvPr/>
        </p:nvSpPr>
        <p:spPr>
          <a:xfrm>
            <a:off x="6438748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Градирани вероятности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8748" y="42062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дава вероятности (0–1) за всяка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категория. LLM дават бинарно да/не 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Оптималният праг може да се настрои.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0.932 (Classic ML) vs 0.810 (DeepSeek).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Класическото ML не е "остаряло" — за структурирани задачи с ясни текстови маркери, то остава оптималният избор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Ключови находки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4415" cy="749808"/>
          </a:xfrm>
          <a:prstGeom prst="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749808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881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ML доминира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344168"/>
            <a:ext cx="1063721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XGBoost (Macro-F1 0.691) превъзхожда всички LLM. Без GPU, &lt;1 мин inference, $0 цена.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11094415" cy="749808"/>
          </a:xfrm>
          <a:prstGeom prst="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92808"/>
            <a:ext cx="54864" cy="749808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29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8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Размерът на модела е решаващ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85416"/>
            <a:ext cx="1063721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675B MoE (0.658–0.681) &gt;&gt; 8B Dense (0.459–0.510). Fine-tuning на 8B не компенсира разликата.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11094415" cy="749808"/>
          </a:xfrm>
          <a:prstGeom prst="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34056"/>
            <a:ext cx="54864" cy="749808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70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Taxonomy промптинг помага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026664"/>
            <a:ext cx="1063721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Подкатегории + подсказки: +0.040 Macro-F1, +0.133 Micro-F1 (Qwen3-8B ZS). Особено за малки модели.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11094415" cy="749808"/>
          </a:xfrm>
          <a:prstGeom prst="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75304"/>
            <a:ext cx="54864" cy="749808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 mode — нюансиран ефект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867912"/>
            <a:ext cx="1063721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671B: +0.058 за 13 лейбъла, но −0.003 за 48 лейбъла (21.6% parse failures). 8B: +0.007.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11094415" cy="749808"/>
          </a:xfrm>
          <a:prstGeom prst="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416552"/>
            <a:ext cx="54864" cy="74980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53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48-лейбъл задачата е значително по-трудна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709160"/>
            <a:ext cx="10637215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пада с 0.18–0.26 за всички модели. Classic ML запазва AUC (0.934), LLM деградират повече.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4415" cy="685800"/>
          </a:xfrm>
          <a:prstGeom prst="rect">
            <a:avLst>
              <a:gd name="adj" fmla="val 10667"/>
            </a:avLst>
          </a:prstGeom>
          <a:solidFill>
            <a:srgbClr val="DCFCE7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39496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Препоръка: За production класификация на ASRS доклади — TF-IDF + XGBoost с per-label оптимизация. LLM са полезни за exploration и когато няма обучителни данни.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67048" y="1097280"/>
            <a:ext cx="3657600" cy="27432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мултилейбълна класификация на авиационни доклади,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класическото ML (TF-IDF + XGBoost) остава най-ефективният подход —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най-висок F1, нулева цена за inference, и най-бърз.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A8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Приноси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94484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Систематично сравнение на 4 подхода в 22 експеримента (zero-shot, few-shot, fine-tuned, Classic ML)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429000"/>
            <a:ext cx="94484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Taxonomy-enriched prompting методология с измеримо подобрение (+0.040–0.073 Macro-F1)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94484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Пълен open-source codebase с възпроизводими резултати ($53 бюджет)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A8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Бъдещи насоки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4846320"/>
            <a:ext cx="76196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Encoder-based модели (BERT, DeBERTa) за класификация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5193792"/>
            <a:ext cx="76196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RAG подход с вградени ASRS таксономии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5541264"/>
            <a:ext cx="76196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Мултимодално обучение (текст + структурирани полета)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5888736"/>
            <a:ext cx="76196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Поточна класификация за реално време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67048" y="6263640"/>
            <a:ext cx="3657600" cy="27432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5669280"/>
            <a:ext cx="6095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A8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Благодаря за вниманието!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95848" y="5669280"/>
            <a:ext cx="6095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github.com/rashevzarko-crypto/NBU-ASRS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Зарко Рашев  |  Ф№ F98363  |  НБУ  |  2026  |  Бюджет: ~$53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Multi-Label Classification of Aviation Safety Reports</dc:title>
  <dc:subject>NBU Master's Thesis Defense</dc:subject>
  <dc:creator>Zharko Rashev</dc:creator>
  <cp:lastModifiedBy>Zharko Rashev</cp:lastModifiedBy>
  <cp:revision>1</cp:revision>
  <dcterms:created xsi:type="dcterms:W3CDTF">2026-02-18T11:05:35Z</dcterms:created>
  <dcterms:modified xsi:type="dcterms:W3CDTF">2026-02-18T11:05:35Z</dcterms:modified>
</cp:coreProperties>
</file>